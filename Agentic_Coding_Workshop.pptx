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98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300" r:id="rId34"/>
    <p:sldId id="301" r:id="rId35"/>
    <p:sldId id="288" r:id="rId36"/>
    <p:sldId id="289" r:id="rId37"/>
    <p:sldId id="290" r:id="rId38"/>
    <p:sldId id="291" r:id="rId39"/>
    <p:sldId id="292" r:id="rId40"/>
    <p:sldId id="299" r:id="rId41"/>
    <p:sldId id="293" r:id="rId42"/>
    <p:sldId id="294" r:id="rId43"/>
    <p:sldId id="295" r:id="rId44"/>
    <p:sldId id="296" r:id="rId45"/>
    <p:sldId id="297" r:id="rId46"/>
    <p:sldId id="302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713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E6469-193A-1A0F-8E6F-127B6A40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4A23A-E8C9-9642-C90F-F455D8C13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63173-4FBD-AEB9-556A-DC23A2EEC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4BC65-0116-285F-D9BB-63BE06137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537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BCEC-7B7E-76A5-B1A6-6A9BF95F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4C158-A441-1EEF-8811-59AFBF014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180B1-DF4A-AA7B-5C57-F20A22A05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A3E4-4242-5916-9BE2-122EEE52F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814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8992-09C4-0D9D-6907-C63D5960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A5A44-ED02-A1B8-87AF-2F52E38CE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BAAA1-660D-AD79-6C4D-CAADC8EE2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DAF4-0BF4-976C-5C11-581A0937B5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730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6718-A844-2BA8-63CB-B5618681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D6FD8-D614-E7F4-0B97-C015D9E51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14B4D-CF7A-947F-2A0A-464633750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DE239-444F-D2F1-0474-AC80357454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012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150E-420F-48EA-E966-73C264936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C11F6-F168-B476-E34C-60286198C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2B3B7-2C9B-F222-B72F-F46918F00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E62EA-6C13-5815-2B2F-102D2EDAE2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2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/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work.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7315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and building agents to automate real workflows.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63040" y="1005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got here.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agents now.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an agent is.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OpenClaw, in your pocket.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3749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build one.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42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software start writing itself?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42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</a:t>
            </a:r>
            <a:endParaRPr lang="en-US" sz="8000" dirty="0"/>
          </a:p>
          <a:p>
            <a:pPr marL="0" indent="0" algn="l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Overflow.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copy snippets between tabs.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——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42</a:t>
            </a:r>
            <a:endParaRPr lang="en-US" sz="900" dirty="0"/>
          </a:p>
        </p:txBody>
      </p:sp>
      <p:pic>
        <p:nvPicPr>
          <p:cNvPr id="2050" name="Picture 2" descr="Effectively use StackOverflow as a contributor">
            <a:extLst>
              <a:ext uri="{FF2B5EF4-FFF2-40B4-BE49-F238E27FC236}">
                <a16:creationId xmlns:a16="http://schemas.microsoft.com/office/drawing/2014/main" id="{5CF76091-7920-EA09-52FD-8481E2D26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179" y="467053"/>
            <a:ext cx="3988676" cy="210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Autocomplete</a:t>
            </a:r>
            <a:endParaRPr lang="en-US" sz="7000" dirty="0"/>
          </a:p>
          <a:p>
            <a:pPr marL="0" indent="0" algn="l">
              <a:buNone/>
            </a:pPr>
            <a:r>
              <a:rPr lang="en-US" sz="7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learns to code.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ships. The IDE starts to predict.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——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42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2022-2023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Copy.</a:t>
            </a:r>
            <a:endParaRPr lang="en-US" sz="7200" dirty="0"/>
          </a:p>
          <a:p>
            <a:pPr marL="0" indent="0" algn="l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Paste.</a:t>
            </a:r>
            <a:endParaRPr lang="en-US" sz="7200" dirty="0"/>
          </a:p>
          <a:p>
            <a:pPr marL="0" indent="0" algn="l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Pray.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writes the snippet. The human is the runtime.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——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42</a:t>
            </a:r>
            <a:endParaRPr lang="en-US" sz="900" dirty="0"/>
          </a:p>
        </p:txBody>
      </p:sp>
      <p:pic>
        <p:nvPicPr>
          <p:cNvPr id="3074" name="Picture 2" descr="ChatGPT - Free download and install on Windows | Microsoft Store">
            <a:extLst>
              <a:ext uri="{FF2B5EF4-FFF2-40B4-BE49-F238E27FC236}">
                <a16:creationId xmlns:a16="http://schemas.microsoft.com/office/drawing/2014/main" id="{A7424FEE-689F-7E9C-B9E0-6FF598BEA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621" y="822960"/>
            <a:ext cx="3738400" cy="2829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2023-2024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with</a:t>
            </a:r>
            <a:endParaRPr lang="en-US" sz="8000" dirty="0"/>
          </a:p>
          <a:p>
            <a:pPr marL="0" indent="0" algn="l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repo.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read code, explain it, refactor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——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42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2025-TODAY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writes,</a:t>
            </a:r>
            <a:endParaRPr lang="en-US" sz="8000" dirty="0"/>
          </a:p>
          <a:p>
            <a:pPr marL="0" indent="0" algn="l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runs, ships.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take goals, not keystrokes.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——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42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any of this matter?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42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knowledge work is repeatable.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Tickets, reports, reviews, follow-ups, glue code.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——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42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10×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typing. Same output.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the goal. The agent does the keystrokes.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——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42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switches.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stays in one place. The agent goes to the tools.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——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42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 agent, actually?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42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agent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plans. acts. checks. retries.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loop with judgment, not just a prompt.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42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20440" y="1828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52044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532120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loops until done.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42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Step.  Step.  Step.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the moment reality drifts.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26280" y="1280160"/>
            <a:ext cx="9144" cy="21031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Goal.  Decide.  Verify.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9377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when the world changes.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Brittle becomes resilient.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42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TO AUTOMATE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0" y="1463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0" y="30175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Reports.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42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0" y="1097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Superpowers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0" y="1874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gstack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 SDK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0" y="2651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LangGraph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one. The shape is the same.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42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1A8C1-5A2E-6DDA-5FBB-27028C16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23C719-E67C-17A6-0A04-AD843FD45650}"/>
              </a:ext>
            </a:extLst>
          </p:cNvPr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TOOLBOX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C06E37-70BF-CBA0-B744-08692BD06E8D}"/>
              </a:ext>
            </a:extLst>
          </p:cNvPr>
          <p:cNvSpPr/>
          <p:nvPr/>
        </p:nvSpPr>
        <p:spPr>
          <a:xfrm>
            <a:off x="457200" y="1097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6E49DB-6555-F693-D132-68B63EE6A94B}"/>
              </a:ext>
            </a:extLst>
          </p:cNvPr>
          <p:cNvSpPr/>
          <p:nvPr/>
        </p:nvSpPr>
        <p:spPr>
          <a:xfrm>
            <a:off x="4572000" y="1097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Superpowers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0A57C8-C1A8-2FF8-EB92-7B1F4EA7B3DD}"/>
              </a:ext>
            </a:extLst>
          </p:cNvPr>
          <p:cNvSpPr/>
          <p:nvPr/>
        </p:nvSpPr>
        <p:spPr>
          <a:xfrm>
            <a:off x="457200" y="1874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2AF496-67D4-D971-C01D-33A34764C1BB}"/>
              </a:ext>
            </a:extLst>
          </p:cNvPr>
          <p:cNvSpPr/>
          <p:nvPr/>
        </p:nvSpPr>
        <p:spPr>
          <a:xfrm>
            <a:off x="4572000" y="1874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gstack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E2B18D-FA3E-653B-B44D-5C6D678CF7C6}"/>
              </a:ext>
            </a:extLst>
          </p:cNvPr>
          <p:cNvSpPr/>
          <p:nvPr/>
        </p:nvSpPr>
        <p:spPr>
          <a:xfrm>
            <a:off x="457200" y="2651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 SDK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0EE24F1-9108-E5FB-4320-4D6DEAD8A6BB}"/>
              </a:ext>
            </a:extLst>
          </p:cNvPr>
          <p:cNvSpPr/>
          <p:nvPr/>
        </p:nvSpPr>
        <p:spPr>
          <a:xfrm>
            <a:off x="4650827" y="2674621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699AF1B-CF5B-4F3D-7595-EFDE88733F5A}"/>
              </a:ext>
            </a:extLst>
          </p:cNvPr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one. The shape is the same.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D8A72AB-DE3B-0F3B-53B3-C00BD198BC47}"/>
              </a:ext>
            </a:extLst>
          </p:cNvPr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3F06A0-3447-9088-11DE-42FBD7BEE53A}"/>
              </a:ext>
            </a:extLst>
          </p:cNvPr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42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28568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plugin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skills. of habits. of taste.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expertise the agent already knows how to use.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42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 /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have skills.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them.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them.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startup rule injected at boot. The bootstrap that kicks it off.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42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 /  02   ——   THE PLAYBOOKS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TDD.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Debug.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Brainstorm.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0" y="2331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Worktrees.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0" y="3383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SKILL.md files. Drop-in expertise.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42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 /  03   ——   THE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Brainstorm.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Worktree.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Test.  Code.  Review.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Ship.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does not code first. It clarifies, plans, isolates, tests, reviews, finishes.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42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 /  04   ——   TDD IS MANDATORY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test first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3756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33756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code to pass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REFACTOR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Clean. Then commit.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532120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failure. Watch it fail. Then make it pass.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42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/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your terminal.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code. Edits files. Runs commands. Ships PRs.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42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/  02   ——   WHAT IT GIVES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0" y="1463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Edit.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0" y="30175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Recall.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Files. Diffs. Shell. Memory. The agent's hands.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42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/  03   ——   EXTENSIBLE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Bring your skills.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Bring your tools.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Bring your team.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Plugins, MCPs, subagents, hooks. The shape bends to you.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42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PRIMITIVES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Subagents.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Slash commands.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42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 /  01   ——  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skill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a folder. of know-how(instructions).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SKILL.md the agent reads before doing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42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 /  02   ——   SUBAGENTS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Spawn a helper.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 it a task.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a report.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work. Fresh context. Less noise in the main thread.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42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 /  03   ——   SLASH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/review.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/plan.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/ship.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prompts. One keystroke. Reusable workflows.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42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 /  04   ——  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the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3756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DURING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33756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to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532120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that run on the agent's lifecycle. Guardrails, telemetry, glue.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42</a:t>
            </a:r>
            <a:endParaRPr lang="en-US" sz="9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84F1044C-22D8-E6D8-C386-0D024B90FC6B}"/>
              </a:ext>
            </a:extLst>
          </p:cNvPr>
          <p:cNvSpPr/>
          <p:nvPr/>
        </p:nvSpPr>
        <p:spPr>
          <a:xfrm>
            <a:off x="274320" y="14401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PRE-HOOKS</a:t>
            </a:r>
            <a:endParaRPr lang="en-US" sz="12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2D0A97E-BC4D-8121-B2E6-688BDCAA765B}"/>
              </a:ext>
            </a:extLst>
          </p:cNvPr>
          <p:cNvSpPr/>
          <p:nvPr/>
        </p:nvSpPr>
        <p:spPr>
          <a:xfrm>
            <a:off x="6472796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POST-HOOKS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6F34C-A6CA-D63F-8626-C32890038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F3819B-D6F6-287A-C29E-03B72903C0D2}"/>
              </a:ext>
            </a:extLst>
          </p:cNvPr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427C36-C098-C84D-34A4-828BB163ED18}"/>
              </a:ext>
            </a:extLst>
          </p:cNvPr>
          <p:cNvSpPr/>
          <p:nvPr/>
        </p:nvSpPr>
        <p:spPr>
          <a:xfrm>
            <a:off x="2017987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PROJECTS</a:t>
            </a:r>
            <a:endParaRPr lang="en-US" sz="6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EA0D90-4719-F526-BF0A-6730376503E4}"/>
              </a:ext>
            </a:extLst>
          </p:cNvPr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6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8D8728A-015E-E83B-9976-61CE564932FD}"/>
              </a:ext>
            </a:extLst>
          </p:cNvPr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66B57B-6CB6-268C-B899-B5FC6F8E4B7A}"/>
              </a:ext>
            </a:extLst>
          </p:cNvPr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42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15619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53557-F5E1-5771-11DD-C997FB5C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BA05CB-84FC-EBAC-886D-32685F99D724}"/>
              </a:ext>
            </a:extLst>
          </p:cNvPr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0B17F3-ADAF-2B05-2C78-D891BA2C9F6B}"/>
              </a:ext>
            </a:extLst>
          </p:cNvPr>
          <p:cNvSpPr/>
          <p:nvPr/>
        </p:nvSpPr>
        <p:spPr>
          <a:xfrm>
            <a:off x="2017987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cs typeface="Arial Black" pitchFamily="34" charset="-120"/>
              </a:rPr>
              <a:t>DEMO</a:t>
            </a:r>
            <a:endParaRPr lang="en-US" sz="6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41E62A-8190-CD14-A530-3B72D279C9AD}"/>
              </a:ext>
            </a:extLst>
          </p:cNvPr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6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2C98A9-FF5F-FAED-45A9-2FB8B3824892}"/>
              </a:ext>
            </a:extLst>
          </p:cNvPr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A6CD7C-40E4-8F77-5202-C1CE05FDCC13}"/>
              </a:ext>
            </a:extLst>
          </p:cNvPr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42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46314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15310" y="1280160"/>
            <a:ext cx="837148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in your pocket.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42</a:t>
            </a:r>
            <a:endParaRPr lang="en-US" sz="900" dirty="0"/>
          </a:p>
        </p:txBody>
      </p:sp>
      <p:pic>
        <p:nvPicPr>
          <p:cNvPr id="1026" name="Picture 2" descr="Don't deploy OpenClaw without securing it - Try this opensource solution  and hands-on lab - Cisco Blogs">
            <a:extLst>
              <a:ext uri="{FF2B5EF4-FFF2-40B4-BE49-F238E27FC236}">
                <a16:creationId xmlns:a16="http://schemas.microsoft.com/office/drawing/2014/main" id="{BC4F9BFF-96CB-58FB-2936-1C04AA380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734" y="2819400"/>
            <a:ext cx="4119618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 /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personal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run yourself.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MIT-licensed. Local-first. Markdown memory on disk.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42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 /  02   ——   YOU TEXT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0" y="1463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Telegram.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Slack.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0175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iMessage.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channel you already use becomes the command line.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42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 /  03   ——   YOUR DAY, AUTOMATED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63040" y="1097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Morning brief.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bills, calendar, mail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Triage your messages.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Slack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560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 a browser.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in, download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the shell.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scripts, files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 the calendar.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schedule, follow 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42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 /  04   ——   BRING YOUR OWN BRAIN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OpenAI. Google(Gemini).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 local. Ollama.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hardware. Your model. Your rules.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42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16552-D6ED-41C8-BEAF-DAEC7E9A1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E3C92E-7CC5-ADC6-F2BE-7312551981DA}"/>
              </a:ext>
            </a:extLst>
          </p:cNvPr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 /  04   ——   BRING YOUR OWN BRAIN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E112123-050D-E30C-33CA-2A73C1571002}"/>
              </a:ext>
            </a:extLst>
          </p:cNvPr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hardware. Your model. Your rules.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C8D9AB-3BDE-946F-CDE5-CB1D60B5FCFF}"/>
              </a:ext>
            </a:extLst>
          </p:cNvPr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E38ED29-9D55-C54A-12AA-28990A4A862A}"/>
              </a:ext>
            </a:extLst>
          </p:cNvPr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42</a:t>
            </a:r>
            <a:endParaRPr lang="en-US" sz="9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209884C-79E0-6BB1-C693-1BD02A8F4D1F}"/>
              </a:ext>
            </a:extLst>
          </p:cNvPr>
          <p:cNvSpPr/>
          <p:nvPr/>
        </p:nvSpPr>
        <p:spPr>
          <a:xfrm>
            <a:off x="1954924" y="195492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RECOMMENDATION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8205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63040" y="12801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a workflow you do weekly.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0" y="1463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23774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it tools and a goal.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463040" y="3474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 it loop. Watch. Iterate.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Trust.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Small agents.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Sharp tools.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Tight loops.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Fewer apps.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agents.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goals.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42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94917-221C-C123-A51D-E610FA77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221A2-D9B0-A7B2-CE96-67A5D0728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86" y="2202837"/>
            <a:ext cx="2596419" cy="24259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BE2A67-32E7-676E-E234-3F4CC4E11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160" y="2202837"/>
            <a:ext cx="2425946" cy="2425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EDD885-1D23-2674-583F-B117269D7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7814" y="2164983"/>
            <a:ext cx="2425700" cy="2463800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75B49F3C-33DA-CA76-1E83-710055751AA5}"/>
              </a:ext>
            </a:extLst>
          </p:cNvPr>
          <p:cNvSpPr/>
          <p:nvPr/>
        </p:nvSpPr>
        <p:spPr>
          <a:xfrm>
            <a:off x="570486" y="238649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SOCIALS</a:t>
            </a:r>
            <a:endParaRPr lang="en-US" sz="7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6864BB6-6D7A-A0EC-A323-1BB1EE77B335}"/>
              </a:ext>
            </a:extLst>
          </p:cNvPr>
          <p:cNvSpPr/>
          <p:nvPr/>
        </p:nvSpPr>
        <p:spPr>
          <a:xfrm>
            <a:off x="1523330" y="1370595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cs typeface="Arial Black" pitchFamily="34" charset="-120"/>
              </a:rPr>
              <a:t>ASH</a:t>
            </a:r>
            <a:endParaRPr lang="en-US" sz="2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0E0A8E1-7E0E-B427-2ED5-3A28DE6208FA}"/>
              </a:ext>
            </a:extLst>
          </p:cNvPr>
          <p:cNvSpPr/>
          <p:nvPr/>
        </p:nvSpPr>
        <p:spPr>
          <a:xfrm>
            <a:off x="3808250" y="1384663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cs typeface="Arial Black" pitchFamily="34" charset="-120"/>
              </a:rPr>
              <a:t>KESHAV</a:t>
            </a:r>
            <a:endParaRPr lang="en-US" sz="28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C76A0D6-F99E-5A53-6F7B-DFB7E50B5CC0}"/>
              </a:ext>
            </a:extLst>
          </p:cNvPr>
          <p:cNvSpPr/>
          <p:nvPr/>
        </p:nvSpPr>
        <p:spPr>
          <a:xfrm>
            <a:off x="6502883" y="1317623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cs typeface="Arial Black" pitchFamily="34" charset="-120"/>
              </a:rPr>
              <a:t>DISCORD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22521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1167</Words>
  <Application>Microsoft Macintosh PowerPoint</Application>
  <PresentationFormat>On-screen Show (16:9)</PresentationFormat>
  <Paragraphs>372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Coding &amp; Building Agents</dc:title>
  <dc:subject>PptxGenJS Presentation</dc:subject>
  <dc:creator/>
  <cp:lastModifiedBy>Castelino, Ashleyn</cp:lastModifiedBy>
  <cp:revision>3</cp:revision>
  <dcterms:created xsi:type="dcterms:W3CDTF">2026-04-28T18:02:23Z</dcterms:created>
  <dcterms:modified xsi:type="dcterms:W3CDTF">2026-04-28T22:28:53Z</dcterms:modified>
</cp:coreProperties>
</file>