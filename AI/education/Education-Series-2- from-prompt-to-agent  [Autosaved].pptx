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GSM8K solve rate (%)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Standard prompt</c:v>
                </c:pt>
                <c:pt idx="1">
                  <c:v>Chain-of-thought</c:v>
                </c:pt>
                <c:pt idx="2">
                  <c:v>CoT + self-consistency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17.899999999999999</c:v>
                </c:pt>
                <c:pt idx="1">
                  <c:v>56.9</c:v>
                </c:pt>
                <c:pt idx="2">
                  <c:v>74.400000000000006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B3-7347-94CF-5B3632CCF5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B7280"/>
                    </a:solidFill>
                    <a:latin typeface="Arial"/>
                  </a:rPr>
                  <a:t>Prompting strategy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B7280"/>
                    </a:solidFill>
                    <a:latin typeface="Arial"/>
                  </a:rPr>
                  <a:t>GSM8K solve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FF2F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FF2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55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8745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SERIES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23317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Scenario : From Prompt to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840480"/>
            <a:ext cx="9631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— prompt, context, harness, loop, graph — taught through one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story: Solstice Outfitters builds a support agent, week by week.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49377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Ashley Castelino · 30-minute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build, five weeks, five layers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0" y="1920240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as an interface contract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6609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26426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0" y="2706624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only knows what you send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447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3429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86400" y="3493008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you write around the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33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2153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engineering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0" y="4279392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model becomes an 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8006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5020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5001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engineering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0" y="5065776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many loops into a system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58698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Solstice Outfitters is drowning in support tickets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" y="18745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Outdoor-gear store, four-person support team, a queue that never empties.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7889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tickets are routine: order status, refunds, product questions.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7033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brief: build an agent that resolves the routine ones — safely.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Solstice Outfitters is fictional; the constraints are typical of a small e-commerce team.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Monday, 9 AM: the queue Maya's ticket is stuck in</a:t>
            </a:r>
            <a:endParaRPr lang="en-US" sz="2700" dirty="0"/>
          </a:p>
        </p:txBody>
      </p:sp>
      <p:pic>
        <p:nvPicPr>
          <p:cNvPr id="4" name="Image 0" descr="mockups/inbox-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19"/>
            <a:ext cx="10911535" cy="3401569"/>
          </a:xfrm>
          <a:prstGeom prst="rect">
            <a:avLst/>
          </a:prstGeom>
          <a:effectLst>
            <a:outerShdw blurRad="101600" dist="25400" dir="5400000" algn="bl" rotWithShape="0">
              <a:srgbClr val="9AA4B0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404105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#4521 — Maya's missing tent — is the one we'll follow for the rest of the talk.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mockup; company and data are fictional.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brief, translated from business asks into engineering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6" cy="2377440"/>
        </p:xfrm>
        <a:graphic>
          <a:graphicData uri="http://schemas.openxmlformats.org/drawingml/2006/table">
            <a:tbl>
              <a:tblPr/>
              <a:tblGrid>
                <a:gridCol w="545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business needs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that means technically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“where is my order?” instantly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lookup_order tool calling the order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Refunds follow policy; a human signs off on money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in the prompt; approval guardrail in the harness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Replies match our published help docs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search_docs retrieval into the context window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can see what the agent did, and why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turn of the loop logged and auditable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section ends in a live-code demo. Everything shown is provider-agnostic.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the agent needs a job description — role, policy, examples, output format. That is the prompt.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6021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model's instructions the way you'd write an interface contract: role, task, constraints, examples, and the exact output format you expect back.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9602151" cy="114300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315968"/>
            <a:ext cx="9053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leverage per unit of effort — no retraining, no new infrastructure, just better instructions. Version it like code.(Imagine you are teaching someone for the job)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two prompts, very different tickets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716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a helpful support agent. Answer the customer.”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policy gets improvised.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968496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 changes run to run.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227168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24448" y="2075688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24448" y="2651760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+ policy: refunds within 30 days, ≤ $200.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4448" y="3310128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worked example replies (few-shot).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4448" y="3968496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schema: JSON with reply, action, confidence.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911535" cy="658368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1389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prompt as versioned code: reviewed, tested, diffed.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EXAMPLE, LAYER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engineered prompt, in full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2057400"/>
            <a:ext cx="1032631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the support agent for Solstice Outfitters.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Refunds: within 30 days of delivery, max $200 — otherwise escalate.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promise delivery dates; quote the carrier's estimate.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— respond with JSON only: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"reply":      "&lt;message to the customer&gt;",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    "none | refund | escalate",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0.0 - 1.0 }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EXAMPLES: two ideal ticket -&gt; reply pairs pasted here (few-shot).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166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policy, schema, examples — the whole contract, versioned in git next to the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the model to reason step-by-step tripled math accuracy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74520"/>
          <a:ext cx="10911535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same questions — only the prompt changed.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 et al. 2022; Wang et al. 2022 — PaLM 540B on GSM8K math word problems.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techniques cover most of what prompt engineering does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4" cy="2377440"/>
        </p:xfrm>
        <a:graphic>
          <a:graphicData uri="http://schemas.openxmlformats.org/drawingml/2006/table">
            <a:tbl>
              <a:tblPr/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F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our support agent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+ constraints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Pins tone and policy limits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 rules stated up front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 examples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the target, not tells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ideal replies embedded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schema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Makes responses parseable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JSON: reply, action, 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Chain-of-thought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Buys reasoning on hard cases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“Check policy before refunding”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 · PROMPT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the prompt against real tickets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run the vague and the engineered prompt on the same three tickets and diff the JSON that comes back.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the editor — the deck picks back up when we're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the agent invents order details. It doesn’t need discipline — it needs the right facts in the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API call starts from zero — context is all the model gets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" y="18745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between calls: “conversation” is you resending the history.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7889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is finite — long inputs crowd out instructions.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7033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drops before limits do: models lose the middle of long contexts.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“Lost in the middle”: Liu et al., 2023.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THE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assembles the context fresh on every call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policy, tool specs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926" y="2948940"/>
            <a:ext cx="3566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93694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93694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03422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turns, summarized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17540" y="2948940"/>
            <a:ext cx="3566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47308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8EFF6"/>
          </a:solidFill>
          <a:ln w="254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7308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57036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record, 3 relevant docs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1153" y="2948940"/>
            <a:ext cx="3566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00921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00921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10649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turn's outputs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ticket #4521 the agent sees the refund policy, three turns, and one order record — not the database.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the window like a budget, not a dumping ground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" y="18745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the three relevant docs; don't paste the manual.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7889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or drop old turns — keep decisions, not chatter.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7033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critical instructions first and last; the middle gets skimmed.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EXAMPLE, LAYER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window actually holds for ticket #4521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2057400"/>
            <a:ext cx="1032631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[system]     Role, policy, tool specs                    ~600 tokens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[history]    Turns 1-3, summarized to one line           ~150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[retrieved]  Order 4521 — shipped Aug 24, carrier: LOST  ~120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[retrieved]  Help docs, "Lost packages" (top match)      ~200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[user]       "It's been two weeks. Where is my order?"   ~20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sent to the model                                ~1,090 tokens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model will ever know about this ticket — chosen, not dumped.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counts illustrative.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EXAMPLE, LAYER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“Retrieved data” is just this record, fetched at the right moment</a:t>
            </a:r>
            <a:endParaRPr lang="en-US" sz="2700" dirty="0"/>
          </a:p>
        </p:txBody>
      </p:sp>
      <p:pic>
        <p:nvPicPr>
          <p:cNvPr id="4" name="Image 0" descr="mockups/order-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661" y="1874520"/>
            <a:ext cx="8472373" cy="3246120"/>
          </a:xfrm>
          <a:prstGeom prst="rect">
            <a:avLst/>
          </a:prstGeom>
          <a:effectLst>
            <a:outerShdw blurRad="101600" dist="25400" dir="5400000" algn="bl" rotWithShape="0">
              <a:srgbClr val="9AA4B0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28523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refund policy check is answerable only because this record is in the window.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mockup; data fictional.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 · CONTEXT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assembling the window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build the context for ticket #4521 piece by piece and watch what retrieval adds — and what it costs.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the editor — the deck picks back up when we're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the prompt can’t call the order API. Time to write the code around the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6021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code </a:t>
            </a: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around the model</a:t>
            </a: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it assembles </a:t>
            </a: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exposes tools, parses and validates output, retries failures, and enforces guardrails</a:t>
            </a: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9602151" cy="114300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315968"/>
            <a:ext cx="9053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runs a tool or touches your database — the harness does. Its permissions, not the model's intent, bound what can happen.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turn of the harness,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926" y="2948940"/>
            <a:ext cx="3566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93694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8EFF6"/>
          </a:solidFill>
          <a:ln w="254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93694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03422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LLM step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17540" y="2948940"/>
            <a:ext cx="3566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47308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7308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57036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JSON, check 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1153" y="2948940"/>
            <a:ext cx="3566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00921" y="2331720"/>
            <a:ext cx="2350694" cy="1234440"/>
          </a:xfrm>
          <a:prstGeom prst="roundRect">
            <a:avLst>
              <a:gd name="adj" fmla="val 4444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00921" y="260604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10649" y="299008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tool, apply guardrails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shaded step is the LLM. Everything else is deterministic code — testable, loggable, yours.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EXAMPLE, LAYER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harness is one short function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19"/>
            <a:ext cx="10911535" cy="3246117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2057400"/>
            <a:ext cx="1032631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handle_turn(ticket):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  = assemble(SYSTEM_PROMPT,              # layer 1: the prompt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summarize(ticket.history),  # layer 2: context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retrieve(ticket))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 = call_model(ctx, tools=TOOLS)         # the only LLM step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  = validate(out)                        # parse JSON, check schema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act.tool == "refund_order":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require_human_approval(act)             # guardrail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execute(act)                         # run the tool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79" y="5586984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1 and 2 are just arguments here. The loop — next — is what calls this repeatedly.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 · HARNESS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handle_turn, end to 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turn against a test ticket: assemble, call, validate — and what happens when the model returns bad JSON.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the editor — the deck picks back up when we're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one call handles one step, but ticket #4521 takes four. Wrap the harness in a loop.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6021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model → if it requests a tool, run it → append the result to context → call again. Repeat until the model answers instead of acting.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9602151" cy="114300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315968"/>
            <a:ext cx="9053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decides what happens next at every step. That decision-making inside a loop is what “agent” actually means.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EXAMPLE, LAYER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is ten lines wrapped around the harness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2057400"/>
            <a:ext cx="1032631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run_agent(ticket, max_turns=8):          # cap prevents runaways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 = []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range(max_turns):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 = handle_turn(ticket, history)   # the harness, from layer 3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act.tool is None:                 # model chose to reply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act.reply                 #   -&gt; the exit condition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execute(act)                # run the requested tool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history.append((act, result))        # context grows each turn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escalate(ticket)                  # budget hit -&gt; human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steers; the code decides how long it's allowed to drive.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#4521 through the loop, turn by turn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11096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568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07008" y="1874520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“Ordered two weeks ago, nothing arrived.” Model calls lookup_order(4521).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066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624328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runs it — shipped 12 days ago, carrier reports lost — and appends the result.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4564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3374136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reads it, calls refund_order(4521). Guardrail: pause for human approval.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4123944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→ harness refunds. Model writes the apology; no tool call → loop exits.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10911535" cy="658368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 calls, two tools, one resolved ticket.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EXAMPLE, LAYER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turns, as Maya and the team see them</a:t>
            </a:r>
            <a:endParaRPr lang="en-US" sz="2700" dirty="0"/>
          </a:p>
        </p:txBody>
      </p:sp>
      <p:pic>
        <p:nvPicPr>
          <p:cNvPr id="4" name="Image 0" descr="mockups/chat-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654" y="1874520"/>
            <a:ext cx="7206386" cy="3246120"/>
          </a:xfrm>
          <a:prstGeom prst="rect">
            <a:avLst/>
          </a:prstGeom>
          <a:effectLst>
            <a:outerShdw blurRad="101600" dist="25400" dir="5400000" algn="bl" rotWithShape="0">
              <a:srgbClr val="9AA4B0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28523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 and the approval show up as internal events; Maya sees one apology, four minutes in.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mockup; conversation fictional.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fail in predictable ways — cap, compact, and gate them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" y="18745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Runaway: cap iterations and spend per ticket.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7889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bloat: every turn appends; compact as you go.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7033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 tools: approvals live in the harness, not the prompt.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 · LOOP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the loop resolves #4521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run_agent live: tool calls streaming, the approval pause, and the exit when the model chooses to reply.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the editor — the deck picks back up when we're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refunds, sizing questions, escalations — one loop can’t do every job well. Add structure: a graph.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gives loops structure: nodes do work, edges decide routing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" y="18745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beat one giant prompt — each node gets a small, focused context.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7889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encode policy in code: what routes where, what needs approval.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7033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 behind LangGraph, and subagents in the Claude Agent SDK.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AGENT, FINISHED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agent as a graph: triage routes, specialists loop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4655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333756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8EFF6"/>
          </a:solidFill>
          <a:ln w="254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34655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7947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intent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27685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orders, refunds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33756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34655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Q&amp;A loop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7947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search_docs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46542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9834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queue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3337560"/>
            <a:ext cx="2148840" cy="841248"/>
          </a:xfrm>
          <a:prstGeom prst="roundRect">
            <a:avLst>
              <a:gd name="adj" fmla="val 6522"/>
            </a:avLst>
          </a:prstGeom>
          <a:solidFill>
            <a:srgbClr val="EFF2F6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89720" y="34655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37947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customer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62072" y="3758184"/>
            <a:ext cx="4480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05272" y="3758184"/>
            <a:ext cx="5394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39912" y="2569464"/>
            <a:ext cx="658368" cy="99669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05272" y="3758184"/>
            <a:ext cx="53949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39912" y="3758184"/>
            <a:ext cx="67665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05272" y="3758184"/>
            <a:ext cx="539496" cy="11887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8439912" y="4187953"/>
            <a:ext cx="676656" cy="75895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specialist is its own small agentic loop; escalation is just an edge, not a failure.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EXAMPLE, LAYER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is data: nodes registered, edges routed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2057400"/>
            <a:ext cx="1032631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Graph()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g.add_node("triage",  triage_agent)     # each node: its own small loop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g.add_node("refunds", refund_agent)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g.add_node("docs",    docs_agent)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g.add_node("reply",   merge_and_send)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g.add_edge("triage",  route_by_intent)  # edges decide where work goes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g.add_edge("refunds", "reply")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g.add_edge("docs",    "reply")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g.compile(checkpointing=True)     # pause/resume between nodes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 in the LangGraph style — the Claude Agent SDK expresses the same shape with subagents.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messy ticket through the graph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11096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568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07008" y="1874520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Ticket: “Package never arrived — and your sizing chart is wrong.”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066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624328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finds two intents and routes one to each specialist.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4564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3374136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loop resolves order 4521; Docs Q&amp;A fixes the sizing answer — in parallel.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347472" cy="34747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4123944"/>
            <a:ext cx="103446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node merges both into one message back to the customer.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10911535" cy="658368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loops, one reply — the routing lived in edges, not in a prompt.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loop or graph? Let the workflow decide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7168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loop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job, one toolset, short horizon.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 to build, debug, and eval.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968496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refund agent alone is exactly this.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227168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24448" y="2075688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24448" y="2651760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stages, routing, or parallel work.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4448" y="3310128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and human gates between nodes.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4448" y="3968496"/>
            <a:ext cx="522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support pipeline needs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911535" cy="658368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1389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loop; move to a graph when routing outgrows the prompt.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40080" y="3401568"/>
            <a:ext cx="1463040" cy="0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 · GRAPH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triage routes a messy ticket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856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compiled graph on Maya's two-intent ticket: routing, both specialists in parallel, one merged reply.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the editor — the deck picks back up when we're done.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BUSINESS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shipping this buys Solstice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" y="18745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tickets resolved in minutes, around the clock.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7889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four-person team handles judgment calls, not copy-paste replies.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128016" cy="12801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70332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logged, gated, and inside policy — auditable by design.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scenario — measure your own deflection rate and CSAT before claiming numbers.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04672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901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187452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= interface contract: role, constraints, examples, output schema.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2715768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all the model knows — assemble it deliberately, spend it like a budget.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584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557016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is your code around the model; it holds the real permissions.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425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4398264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model acts, harness executes, repeat until it replies. That's an agent.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266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5239512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Graph: many small loops with routing on the edges — structure for real workflows.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61813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6327648"/>
            <a:ext cx="76380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LLMs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8155" y="6327648"/>
            <a:ext cx="32734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F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011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686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361188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 et al., Chain-of-Thought Prompting Elicits Reasoning (2022) — the CoT numbers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397764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Anthropic, Building Effective Agents — patterns for loops, routing, and graphs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43434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Lost in the Middle (2023) — why context position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5778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Ashley Castelino · Building with LLMs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4109</TotalTime>
  <Words>2862</Words>
  <Application>Microsoft Macintosh PowerPoint</Application>
  <PresentationFormat>Widescreen</PresentationFormat>
  <Paragraphs>436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Castelino, Ashleyn</cp:lastModifiedBy>
  <cp:revision>4</cp:revision>
  <dcterms:created xsi:type="dcterms:W3CDTF">2026-09-07T22:57:30Z</dcterms:created>
  <dcterms:modified xsi:type="dcterms:W3CDTF">2026-09-13T18:20:28Z</dcterms:modified>
</cp:coreProperties>
</file>